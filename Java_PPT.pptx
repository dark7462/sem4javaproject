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82" r:id="rId4"/>
    <p:sldId id="284" r:id="rId5"/>
    <p:sldId id="259" r:id="rId6"/>
    <p:sldId id="274" r:id="rId7"/>
    <p:sldId id="279" r:id="rId8"/>
    <p:sldId id="303" r:id="rId9"/>
    <p:sldId id="299" r:id="rId10"/>
    <p:sldId id="305" r:id="rId11"/>
    <p:sldId id="306" r:id="rId12"/>
    <p:sldId id="307" r:id="rId13"/>
    <p:sldId id="276" r:id="rId14"/>
    <p:sldId id="269" r:id="rId15"/>
  </p:sldIdLst>
  <p:sldSz cx="10058400" cy="7772400"/>
  <p:notesSz cx="10058400" cy="77724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7BE6A688-D8EA-4E81-8D78-C3BD9E77672F}">
          <p14:sldIdLst>
            <p14:sldId id="256"/>
            <p14:sldId id="257"/>
            <p14:sldId id="282"/>
            <p14:sldId id="284"/>
            <p14:sldId id="259"/>
            <p14:sldId id="274"/>
            <p14:sldId id="279"/>
            <p14:sldId id="303"/>
            <p14:sldId id="299"/>
            <p14:sldId id="305"/>
            <p14:sldId id="306"/>
            <p14:sldId id="307"/>
            <p14:sldId id="276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CA9203-AE85-4E2D-94DC-1D639F9E23C8}" v="22" dt="2026-04-05T09:36:43.58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16" autoAdjust="0"/>
    <p:restoredTop sz="96949" autoAdjust="0"/>
  </p:normalViewPr>
  <p:slideViewPr>
    <p:cSldViewPr>
      <p:cViewPr varScale="1">
        <p:scale>
          <a:sx n="112" d="100"/>
          <a:sy n="112" d="100"/>
        </p:scale>
        <p:origin x="2272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06/04/26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534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346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692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76308"/>
            <a:ext cx="7467599" cy="12378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 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Review</a:t>
            </a:r>
            <a:endParaRPr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23718" y="2286000"/>
            <a:ext cx="8751412" cy="399981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Student Course Registration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4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4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r>
              <a:rPr lang="en-IN" sz="2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Anurag Nayak                      (24B11A1014)</a:t>
            </a:r>
          </a:p>
          <a:p>
            <a:r>
              <a:rPr lang="en-IN" sz="2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G. Neha                                 (24B11AI120)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IN" sz="2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Renuka Sri Hasini           (24B11A1299)</a:t>
            </a:r>
          </a:p>
          <a:p>
            <a:r>
              <a:rPr lang="en-IN" sz="2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IN" sz="22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Byreddy</a:t>
            </a:r>
            <a:r>
              <a:rPr lang="en-IN" sz="2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Sivaganesh             (24B11CS060)</a:t>
            </a:r>
          </a:p>
          <a:p>
            <a:r>
              <a:rPr lang="en-IN" sz="2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IN" sz="22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Koliki</a:t>
            </a:r>
            <a:r>
              <a:rPr lang="en-IN" sz="2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Murali Krishna         (24B11CS213)</a:t>
            </a:r>
          </a:p>
          <a:p>
            <a:pPr marL="3810" algn="ctr">
              <a:spcBef>
                <a:spcPts val="750"/>
              </a:spcBef>
            </a:pPr>
            <a:endParaRPr lang="en-IN" sz="2000" spc="-10" dirty="0">
              <a:solidFill>
                <a:srgbClr val="1737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4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4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Artificial Intelligence And Machine Learning</a:t>
            </a:r>
            <a:endParaRPr lang="en-IN" sz="24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2000" y="1414803"/>
            <a:ext cx="8805150" cy="61568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Java-based application for automating course registration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Replaces manual and error-prone registration methods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Allows students to register, update, view, and delete courses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registrations using validation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Ensures accurate and secure data management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Provides user-friendly interface using Java Swing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in MySQL / Oracle database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Reduces time consumption and human errors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Improves efficiency in managing student and course records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Supports real-time data access and updates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>
            <a:extLst>
              <a:ext uri="{FF2B5EF4-FFF2-40B4-BE49-F238E27FC236}">
                <a16:creationId xmlns:a16="http://schemas.microsoft.com/office/drawing/2014/main" id="{34729387-139D-4FC4-E8C5-BAFE1D53119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7AD16D-13E3-534F-B990-F3535E2321C0}"/>
              </a:ext>
            </a:extLst>
          </p:cNvPr>
          <p:cNvSpPr txBox="1"/>
          <p:nvPr/>
        </p:nvSpPr>
        <p:spPr>
          <a:xfrm>
            <a:off x="2209800" y="45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4E9803B0-F72C-90D0-0168-1AE4A66871BF}"/>
              </a:ext>
            </a:extLst>
          </p:cNvPr>
          <p:cNvGrpSpPr/>
          <p:nvPr/>
        </p:nvGrpSpPr>
        <p:grpSpPr>
          <a:xfrm>
            <a:off x="2133600" y="-76200"/>
            <a:ext cx="6018304" cy="1524000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0B9A7ECE-398F-7283-C8FE-3145DEDBE9D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EE6DD58F-C29C-810A-99B1-68150532449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8188" y="100164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0F7F65E9-BEFF-2F7A-BEB7-5F5BA965408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70FF3B07-2831-00E1-011A-9E064019A6F5}"/>
                </a:ext>
              </a:extLst>
            </p:cNvPr>
            <p:cNvSpPr/>
            <p:nvPr/>
          </p:nvSpPr>
          <p:spPr>
            <a:xfrm>
              <a:off x="2828925" y="28937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Rectangle 7">
            <a:extLst>
              <a:ext uri="{FF2B5EF4-FFF2-40B4-BE49-F238E27FC236}">
                <a16:creationId xmlns:a16="http://schemas.microsoft.com/office/drawing/2014/main" id="{FE901BD0-7EAB-4F4E-48DC-2B6C79110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750" y="793030"/>
            <a:ext cx="9386650" cy="649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require efficient systems to manage course registrations.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manual methods are: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  Time-consuming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  Error-prone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  Difficult to manage and update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Course Registration System (SCRS) automates the registration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Java programming and database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200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  Register for courses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  View registered courses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  Update course details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  Delete course registrations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  Fast and accurate registration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  Secure data storage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  Easy access to student and course information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overall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efficiency, accuracy, and management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705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37070F7-17D0-96C8-56D7-1B1A7CB4DFE3}"/>
              </a:ext>
            </a:extLst>
          </p:cNvPr>
          <p:cNvGrpSpPr/>
          <p:nvPr/>
        </p:nvGrpSpPr>
        <p:grpSpPr>
          <a:xfrm>
            <a:off x="1905000" y="204311"/>
            <a:ext cx="6018304" cy="1524000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1E89CE0-9D57-B22F-9B21-A7F03ED851B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04405685-21BB-8EFB-4914-AEFA5F9C080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8188" y="100164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3515D48-E30F-D052-F8B5-1526AD6F4FD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E249A92-8EB8-5004-C5D0-494C7C0583D1}"/>
                </a:ext>
              </a:extLst>
            </p:cNvPr>
            <p:cNvSpPr/>
            <p:nvPr/>
          </p:nvSpPr>
          <p:spPr>
            <a:xfrm>
              <a:off x="2856752" y="29655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l"/>
              <a:r>
                <a:rPr lang="en-US" sz="2800" dirty="0"/>
                <a:t>               </a:t>
              </a:r>
              <a:r>
                <a:rPr 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STATEMENT</a:t>
              </a:r>
              <a:endParaRPr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object 3">
            <a:extLst>
              <a:ext uri="{FF2B5EF4-FFF2-40B4-BE49-F238E27FC236}">
                <a16:creationId xmlns:a16="http://schemas.microsoft.com/office/drawing/2014/main" id="{4D3F5BA9-2B97-0C1B-9F3B-D75A2279D64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2A24D240-7318-391F-4595-3937244B0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251" y="1433309"/>
            <a:ext cx="89154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course registration systems face several challenges: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• Data redundancy and duplication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• Errors in course registration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Difficulty in tracking registered courses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• Time-consuming registration process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proper data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centralized system leads to inefficiency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need for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reliable, automated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Manages student and course records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Allows easy course registration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Prevents duplicate registrations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Enables quick updates and deletions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Provides accurate and secure data storage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97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819400" y="75847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186226" y="266486"/>
            <a:ext cx="6195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CFC9A4-CB37-6B6C-5397-91C8BD39E470}"/>
              </a:ext>
            </a:extLst>
          </p:cNvPr>
          <p:cNvSpPr txBox="1"/>
          <p:nvPr/>
        </p:nvSpPr>
        <p:spPr>
          <a:xfrm>
            <a:off x="723900" y="1676400"/>
            <a:ext cx="86106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Suitable for colleges and universities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Manages student course registration efficiently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Stores student and course information securely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Allows adding, updating, and deleting course registrations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Prevents duplicate registrations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quick access to registered course details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Ensures accurate and organized data management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Online web-based registration system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Mobile application integration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237856EB-E0FB-95B4-AABC-83BF04573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58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Billing and payment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286000" y="204311"/>
            <a:ext cx="6172200" cy="1624489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83931" y="243549"/>
              <a:ext cx="4530262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535046" y="594570"/>
            <a:ext cx="4988307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		 MODULES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Rectangle 3">
            <a:extLst>
              <a:ext uri="{FF2B5EF4-FFF2-40B4-BE49-F238E27FC236}">
                <a16:creationId xmlns:a16="http://schemas.microsoft.com/office/drawing/2014/main" id="{7E8D44C7-9266-9601-97FD-B1624A1DC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25599"/>
            <a:ext cx="47244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1" dirty="0"/>
              <a:t>Admin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     • Central control panel</a:t>
            </a:r>
            <a:br>
              <a:rPr lang="en-US" dirty="0"/>
            </a:br>
            <a:r>
              <a:rPr lang="en-US" dirty="0"/>
              <a:t>     • Overview of students and courses</a:t>
            </a: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1" dirty="0"/>
              <a:t>Student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     • Add, update, delete student details</a:t>
            </a:r>
            <a:br>
              <a:rPr lang="en-US" dirty="0"/>
            </a:br>
            <a:r>
              <a:rPr lang="en-US" dirty="0"/>
              <a:t>     • Maintain student records</a:t>
            </a: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1" dirty="0"/>
              <a:t>Course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/>
              <a:t>     • Add, update, delete courses</a:t>
            </a:r>
            <a:br>
              <a:rPr lang="en-IN" dirty="0"/>
            </a:br>
            <a:r>
              <a:rPr lang="en-IN" dirty="0"/>
              <a:t>     • Manage course information</a:t>
            </a:r>
            <a:br>
              <a:rPr lang="en-IN" dirty="0"/>
            </a:br>
            <a:r>
              <a:rPr lang="en-IN" dirty="0"/>
              <a:t>     • Track course availability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1DF203-F710-2E41-A6D5-956B6504FC81}"/>
              </a:ext>
            </a:extLst>
          </p:cNvPr>
          <p:cNvSpPr txBox="1"/>
          <p:nvPr/>
        </p:nvSpPr>
        <p:spPr>
          <a:xfrm>
            <a:off x="480107" y="4440281"/>
            <a:ext cx="5029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Key Features:</a:t>
            </a:r>
            <a:endParaRPr lang="en-US" sz="1800" b="1" dirty="0"/>
          </a:p>
          <a:p>
            <a:pPr algn="l"/>
            <a:r>
              <a:rPr lang="en-US" sz="1800" dirty="0"/>
              <a:t>• Ensures data consistency and integrity</a:t>
            </a:r>
          </a:p>
          <a:p>
            <a:pPr algn="l"/>
            <a:br>
              <a:rPr lang="en-US" sz="1800" dirty="0"/>
            </a:br>
            <a:r>
              <a:rPr lang="en-US" sz="1800" dirty="0"/>
              <a:t>• Uses primary and foreign keys for     relationships</a:t>
            </a:r>
          </a:p>
          <a:p>
            <a:pPr algn="l"/>
            <a:br>
              <a:rPr lang="en-US" sz="1800" dirty="0"/>
            </a:br>
            <a:r>
              <a:rPr lang="en-US" sz="1800" dirty="0"/>
              <a:t>• Prevents duplicate registrations</a:t>
            </a:r>
          </a:p>
          <a:p>
            <a:pPr algn="l"/>
            <a:br>
              <a:rPr lang="en-US" sz="1800" dirty="0"/>
            </a:br>
            <a:r>
              <a:rPr lang="en-US" sz="1800" dirty="0"/>
              <a:t>• Supports secure and efficient data handling </a:t>
            </a:r>
          </a:p>
        </p:txBody>
      </p:sp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5B97-4948-1D36-1564-48F01509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6429C0E-D3D9-C6CC-7313-83F33EFBCF19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28B387B-EB3D-FC8A-3A51-DDD2B8696A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9E5D4CBA-792A-9A89-0AB2-CDEC2141B44A}"/>
              </a:ext>
            </a:extLst>
          </p:cNvPr>
          <p:cNvGrpSpPr/>
          <p:nvPr/>
        </p:nvGrpSpPr>
        <p:grpSpPr>
          <a:xfrm>
            <a:off x="2552700" y="0"/>
            <a:ext cx="5334000" cy="1490330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893ECF15-0F2A-E378-A119-4899CDA0739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6D3693EB-C0F7-2AAF-AD1A-2ED20DB8462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22A5A9A-65E7-AEE5-B256-A00788B756D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4CECB29-2E06-4F61-7349-B253EA095F86}"/>
                </a:ext>
              </a:extLst>
            </p:cNvPr>
            <p:cNvSpPr/>
            <p:nvPr/>
          </p:nvSpPr>
          <p:spPr>
            <a:xfrm>
              <a:off x="2881913" y="278438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10FC6B3-C3A6-D9ED-37DC-E355BAED8EF5}"/>
              </a:ext>
            </a:extLst>
          </p:cNvPr>
          <p:cNvSpPr txBox="1"/>
          <p:nvPr/>
        </p:nvSpPr>
        <p:spPr>
          <a:xfrm>
            <a:off x="3243405" y="395693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DATABASE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CD9CEE9-E308-CEDB-D8DE-0726B678A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27" y="1034330"/>
            <a:ext cx="9220200" cy="9910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600" dirty="0"/>
              <a:t>The system uses a </a:t>
            </a:r>
            <a:r>
              <a:rPr lang="en-US" sz="1600" b="1" dirty="0"/>
              <a:t>relational database (MySQL/Oracle)</a:t>
            </a:r>
            <a:r>
              <a:rPr lang="en-US" sz="1600" dirty="0"/>
              <a:t> for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600" dirty="0"/>
              <a:t> Multiple tables are used to manage student and course information efficiently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b="1" dirty="0"/>
              <a:t>Tables Used:</a:t>
            </a:r>
          </a:p>
          <a:p>
            <a:r>
              <a:rPr lang="en-IN" sz="1600" b="1" dirty="0"/>
              <a:t>Student Table</a:t>
            </a:r>
          </a:p>
          <a:p>
            <a:r>
              <a:rPr lang="en-US" sz="1600" dirty="0"/>
              <a:t>     • </a:t>
            </a:r>
            <a:r>
              <a:rPr lang="en-US" sz="1600" dirty="0" err="1"/>
              <a:t>student_id</a:t>
            </a:r>
            <a:r>
              <a:rPr lang="en-US" sz="1600" dirty="0"/>
              <a:t> (Primary Key)</a:t>
            </a:r>
            <a:br>
              <a:rPr lang="en-US" sz="1600" dirty="0"/>
            </a:br>
            <a:r>
              <a:rPr lang="en-US" sz="1600" dirty="0"/>
              <a:t>     • name</a:t>
            </a:r>
            <a:br>
              <a:rPr lang="en-US" sz="1600" dirty="0"/>
            </a:br>
            <a:r>
              <a:rPr lang="en-US" sz="1600" dirty="0"/>
              <a:t>     • </a:t>
            </a:r>
            <a:r>
              <a:rPr lang="en-US" sz="1600" dirty="0" err="1"/>
              <a:t>roll_no</a:t>
            </a:r>
            <a:r>
              <a:rPr lang="en-US" sz="1600" dirty="0"/>
              <a:t> (Unique)</a:t>
            </a:r>
            <a:br>
              <a:rPr lang="en-US" sz="1600" dirty="0"/>
            </a:br>
            <a:r>
              <a:rPr lang="en-US" sz="1600" dirty="0"/>
              <a:t>     • email</a:t>
            </a:r>
            <a:br>
              <a:rPr lang="en-US" sz="1600" dirty="0"/>
            </a:br>
            <a:r>
              <a:rPr lang="en-US" sz="1600" dirty="0"/>
              <a:t>     • department</a:t>
            </a:r>
          </a:p>
          <a:p>
            <a:endParaRPr lang="en-US" sz="1600" dirty="0"/>
          </a:p>
          <a:p>
            <a:r>
              <a:rPr lang="en-IN" sz="1600" b="1" dirty="0"/>
              <a:t>Teacher Table</a:t>
            </a:r>
          </a:p>
          <a:p>
            <a:r>
              <a:rPr lang="en-US" sz="1600" dirty="0"/>
              <a:t>     • </a:t>
            </a:r>
            <a:r>
              <a:rPr lang="en-US" sz="1600" dirty="0" err="1"/>
              <a:t>emp_id</a:t>
            </a:r>
            <a:r>
              <a:rPr lang="en-US" sz="1600" dirty="0"/>
              <a:t> (Primary Key)</a:t>
            </a:r>
            <a:br>
              <a:rPr lang="en-US" sz="1600" dirty="0"/>
            </a:br>
            <a:r>
              <a:rPr lang="en-US" sz="1600" dirty="0"/>
              <a:t>     • name</a:t>
            </a:r>
          </a:p>
          <a:p>
            <a:r>
              <a:rPr lang="en-US" sz="1600" dirty="0"/>
              <a:t>     • </a:t>
            </a:r>
            <a:r>
              <a:rPr lang="en-IN" sz="1600" dirty="0"/>
              <a:t>password </a:t>
            </a:r>
            <a:endParaRPr lang="en-US" sz="1600" dirty="0"/>
          </a:p>
          <a:p>
            <a:endParaRPr lang="en-US" sz="1600" dirty="0"/>
          </a:p>
          <a:p>
            <a:pPr lvl="1"/>
            <a:r>
              <a:rPr lang="en-IN" sz="1600" b="1" dirty="0"/>
              <a:t>Course Table</a:t>
            </a:r>
          </a:p>
          <a:p>
            <a:pPr lvl="1"/>
            <a:r>
              <a:rPr lang="en-US" sz="1600" dirty="0"/>
              <a:t>     • </a:t>
            </a:r>
            <a:r>
              <a:rPr lang="en-US" sz="1600" dirty="0" err="1"/>
              <a:t>course_id</a:t>
            </a:r>
            <a:r>
              <a:rPr lang="en-US" sz="1600" dirty="0"/>
              <a:t> (Primary Key)</a:t>
            </a:r>
            <a:br>
              <a:rPr lang="en-US" sz="1600" dirty="0"/>
            </a:br>
            <a:r>
              <a:rPr lang="en-US" sz="1600" dirty="0"/>
              <a:t>     • </a:t>
            </a:r>
            <a:r>
              <a:rPr lang="en-US" sz="1600" dirty="0" err="1"/>
              <a:t>course_name</a:t>
            </a:r>
            <a:br>
              <a:rPr lang="en-US" sz="1600" dirty="0"/>
            </a:br>
            <a:r>
              <a:rPr lang="en-US" sz="1600" dirty="0"/>
              <a:t>     • </a:t>
            </a:r>
            <a:r>
              <a:rPr lang="en-US" sz="1600" dirty="0" err="1"/>
              <a:t>course_code</a:t>
            </a:r>
            <a:r>
              <a:rPr lang="en-US" sz="1600" dirty="0"/>
              <a:t> (Unique)</a:t>
            </a:r>
            <a:br>
              <a:rPr lang="en-US" sz="1600" dirty="0"/>
            </a:br>
            <a:r>
              <a:rPr lang="en-US" sz="1600" dirty="0"/>
              <a:t>     • credits</a:t>
            </a:r>
          </a:p>
          <a:p>
            <a:pPr lvl="1"/>
            <a:endParaRPr lang="en-US" sz="1600" dirty="0"/>
          </a:p>
          <a:p>
            <a:pPr lvl="1"/>
            <a:r>
              <a:rPr lang="en-IN" sz="1600" b="1" dirty="0" err="1"/>
              <a:t>Enrollment</a:t>
            </a:r>
            <a:r>
              <a:rPr lang="en-IN" sz="1600" b="1" dirty="0"/>
              <a:t> Table</a:t>
            </a:r>
            <a:br>
              <a:rPr lang="en-US" sz="1600" dirty="0"/>
            </a:br>
            <a:r>
              <a:rPr lang="en-US" sz="1600" dirty="0"/>
              <a:t>     • </a:t>
            </a:r>
            <a:r>
              <a:rPr lang="en-US" sz="1600" dirty="0" err="1"/>
              <a:t>student_id</a:t>
            </a:r>
            <a:r>
              <a:rPr lang="en-US" sz="1600" dirty="0"/>
              <a:t> (Foreign Key)</a:t>
            </a:r>
            <a:br>
              <a:rPr lang="en-US" sz="1600" dirty="0"/>
            </a:br>
            <a:r>
              <a:rPr lang="en-US" sz="1600" dirty="0"/>
              <a:t>     • </a:t>
            </a:r>
            <a:r>
              <a:rPr lang="en-US" sz="1600" dirty="0" err="1"/>
              <a:t>course_id</a:t>
            </a:r>
            <a:r>
              <a:rPr lang="en-US" sz="1600" dirty="0"/>
              <a:t> (Foreign Key)</a:t>
            </a:r>
            <a:br>
              <a:rPr lang="en-US" sz="1600" dirty="0"/>
            </a:b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CB3A9F-D71B-B02F-787A-62720C634B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9873" y="5700987"/>
            <a:ext cx="1619712" cy="13504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287BFE-3976-B8AA-977C-39181438A0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9478" y="3754975"/>
            <a:ext cx="1763980" cy="13765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DFB4FD-854D-FBD0-E5C6-672945DE63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6063" y="2087997"/>
            <a:ext cx="2000712" cy="12173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21C22F9-8A5A-8840-E753-F923EE0A85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1987" y="2117916"/>
            <a:ext cx="2152703" cy="12173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0BB7B18-BAD2-BB60-29B1-37A83B8407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2177" y="3733800"/>
            <a:ext cx="325986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6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F55A1-2D50-9319-2A67-BB81E1719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50058-03AD-9D56-1B13-E6C864B62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152400"/>
            <a:ext cx="2528570" cy="723275"/>
          </a:xfrm>
        </p:spPr>
        <p:txBody>
          <a:bodyPr/>
          <a:lstStyle/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6D338C0-488B-B8B2-3444-9980BA89B2B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030" y="152400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A5CB45EC-AA46-584F-F157-29C7231F0B18}"/>
              </a:ext>
            </a:extLst>
          </p:cNvPr>
          <p:cNvGrpSpPr/>
          <p:nvPr/>
        </p:nvGrpSpPr>
        <p:grpSpPr>
          <a:xfrm>
            <a:off x="2209800" y="33670"/>
            <a:ext cx="5334000" cy="1490330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93CBFCA7-04AA-4681-D827-A1F46B0D74B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4991B0AF-7B21-3E6C-B03D-BA13BEB1D6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72C2EB9E-D447-D896-BD87-990A90B04BD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68E0CD60-8188-323A-1112-84F48432ADBE}"/>
                </a:ext>
              </a:extLst>
            </p:cNvPr>
            <p:cNvSpPr/>
            <p:nvPr/>
          </p:nvSpPr>
          <p:spPr>
            <a:xfrm>
              <a:off x="2881913" y="278438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8D19353-DF8D-C019-A00F-A4E6FE2913BD}"/>
              </a:ext>
            </a:extLst>
          </p:cNvPr>
          <p:cNvSpPr txBox="1"/>
          <p:nvPr/>
        </p:nvSpPr>
        <p:spPr>
          <a:xfrm>
            <a:off x="2706718" y="364569"/>
            <a:ext cx="3076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OUTPUT SCREENS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96D555-B1AC-5040-F57B-FCBEB0540DD8}"/>
              </a:ext>
            </a:extLst>
          </p:cNvPr>
          <p:cNvSpPr txBox="1"/>
          <p:nvPr/>
        </p:nvSpPr>
        <p:spPr>
          <a:xfrm>
            <a:off x="2514600" y="7206783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portal Login Page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17A70D-A0C4-147B-7DC3-7D8FC1C5BA18}"/>
              </a:ext>
            </a:extLst>
          </p:cNvPr>
          <p:cNvSpPr txBox="1"/>
          <p:nvPr/>
        </p:nvSpPr>
        <p:spPr>
          <a:xfrm>
            <a:off x="361947" y="818324"/>
            <a:ext cx="5260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520437-1C93-7A60-989D-FC643FCC8A0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453729"/>
            <a:ext cx="7862361" cy="562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461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43AB8-E5CD-AEE0-F6FF-BFAF1337A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152400"/>
            <a:ext cx="2528570" cy="723275"/>
          </a:xfrm>
        </p:spPr>
        <p:txBody>
          <a:bodyPr/>
          <a:lstStyle/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7592E041-D8DA-C45F-CF0F-7919F99F74C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030" y="152400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C3E14584-2290-E09F-A7B3-DC0EADE2257C}"/>
              </a:ext>
            </a:extLst>
          </p:cNvPr>
          <p:cNvGrpSpPr/>
          <p:nvPr/>
        </p:nvGrpSpPr>
        <p:grpSpPr>
          <a:xfrm>
            <a:off x="2209800" y="33670"/>
            <a:ext cx="5334000" cy="1490330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92A8BB71-CF09-5AF8-AA18-50500B0AF09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5D6A9898-FE3B-2810-F6F3-D398B07C3CB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AF4EE0DD-C92D-8749-A1A8-AA43F0225A7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2548F688-C22C-21A5-D96A-C5F5FB4E8DA0}"/>
                </a:ext>
              </a:extLst>
            </p:cNvPr>
            <p:cNvSpPr/>
            <p:nvPr/>
          </p:nvSpPr>
          <p:spPr>
            <a:xfrm>
              <a:off x="2881913" y="278438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F1B4683-E8A0-226B-9C73-CF4658913AAF}"/>
              </a:ext>
            </a:extLst>
          </p:cNvPr>
          <p:cNvSpPr txBox="1"/>
          <p:nvPr/>
        </p:nvSpPr>
        <p:spPr>
          <a:xfrm>
            <a:off x="2706718" y="364569"/>
            <a:ext cx="3076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OUTPUT SCREENS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974541-C2DC-9AB6-45C0-4CB324691918}"/>
              </a:ext>
            </a:extLst>
          </p:cNvPr>
          <p:cNvSpPr txBox="1"/>
          <p:nvPr/>
        </p:nvSpPr>
        <p:spPr>
          <a:xfrm>
            <a:off x="349247" y="839395"/>
            <a:ext cx="5260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D00C1C45-310F-7A6F-E2EE-465FE6C97A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6C26D5-FEAC-5B14-7F76-C47ECD141CCC}"/>
              </a:ext>
            </a:extLst>
          </p:cNvPr>
          <p:cNvSpPr txBox="1"/>
          <p:nvPr/>
        </p:nvSpPr>
        <p:spPr>
          <a:xfrm>
            <a:off x="2461165" y="725164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Dashboard [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Registration ]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23A2B4-1999-50F4-1429-CA76859F4A8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954" y="1445913"/>
            <a:ext cx="8026408" cy="571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758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588BB-8C01-325B-200D-B59837F31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07A0D-B0D2-C6AF-A06D-90A07B8F2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152400"/>
            <a:ext cx="2528570" cy="723275"/>
          </a:xfrm>
        </p:spPr>
        <p:txBody>
          <a:bodyPr/>
          <a:lstStyle/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DF23FA94-9E9F-12F4-1216-91BFAF586B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030" y="152400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BFB9046B-DC79-7891-1BBC-FA6E351AB699}"/>
              </a:ext>
            </a:extLst>
          </p:cNvPr>
          <p:cNvGrpSpPr/>
          <p:nvPr/>
        </p:nvGrpSpPr>
        <p:grpSpPr>
          <a:xfrm>
            <a:off x="2209800" y="33670"/>
            <a:ext cx="5334000" cy="1490330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B4BE8166-2340-53C4-0D2C-2A3BF6BB82D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6606E2C9-DE0D-321E-EE8B-1D9A1057CBF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80B58B80-A66B-F871-F900-4A0FA49E824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489731C6-EB8E-0082-5182-543C1918E3EE}"/>
                </a:ext>
              </a:extLst>
            </p:cNvPr>
            <p:cNvSpPr/>
            <p:nvPr/>
          </p:nvSpPr>
          <p:spPr>
            <a:xfrm>
              <a:off x="2881913" y="278438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A1A1BEA-5230-9483-3F36-1ACDC9BFE533}"/>
              </a:ext>
            </a:extLst>
          </p:cNvPr>
          <p:cNvSpPr txBox="1"/>
          <p:nvPr/>
        </p:nvSpPr>
        <p:spPr>
          <a:xfrm>
            <a:off x="2706718" y="364569"/>
            <a:ext cx="3076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OUTPUT SCREENS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F55944-9FAA-5436-3520-85CDCD6FD2F1}"/>
              </a:ext>
            </a:extLst>
          </p:cNvPr>
          <p:cNvSpPr txBox="1"/>
          <p:nvPr/>
        </p:nvSpPr>
        <p:spPr>
          <a:xfrm>
            <a:off x="522433" y="988889"/>
            <a:ext cx="5260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979694-736A-35A9-2EBB-108C50CD5FF5}"/>
              </a:ext>
            </a:extLst>
          </p:cNvPr>
          <p:cNvSpPr txBox="1"/>
          <p:nvPr/>
        </p:nvSpPr>
        <p:spPr>
          <a:xfrm>
            <a:off x="2461165" y="7251021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Change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447A3D-72F7-B79F-054C-8DA734E66B4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655882"/>
            <a:ext cx="7794571" cy="557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324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3E9C1F6-16B0-3492-490A-E5C2A4CC1F51}"/>
              </a:ext>
            </a:extLst>
          </p:cNvPr>
          <p:cNvGrpSpPr/>
          <p:nvPr/>
        </p:nvGrpSpPr>
        <p:grpSpPr>
          <a:xfrm>
            <a:off x="2514600" y="6350"/>
            <a:ext cx="5334000" cy="1490330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E37DD1E-E509-0443-7978-0DA2C1B9CBD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FBB44A44-FD45-0F73-D8DB-FD38C10A53E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1257" y="47148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CD557B5C-DDE6-E4F3-0E86-828A5474EEC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97118" y="273333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33DFF60-F480-226A-A6DE-4D27B8B48C5C}"/>
                </a:ext>
              </a:extLst>
            </p:cNvPr>
            <p:cNvSpPr/>
            <p:nvPr/>
          </p:nvSpPr>
          <p:spPr>
            <a:xfrm>
              <a:off x="2881913" y="278438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8" name="object 3">
            <a:extLst>
              <a:ext uri="{FF2B5EF4-FFF2-40B4-BE49-F238E27FC236}">
                <a16:creationId xmlns:a16="http://schemas.microsoft.com/office/drawing/2014/main" id="{E61B977C-CD8C-9A35-A0AB-CA7915FEAA6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030" y="152400"/>
            <a:ext cx="1163002" cy="424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D42658-395B-98AA-B156-B353B2E69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399766"/>
            <a:ext cx="2940685" cy="307777"/>
          </a:xfrm>
        </p:spPr>
        <p:txBody>
          <a:bodyPr/>
          <a:lstStyle/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OUTPUT SCREENS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0E4268-8C89-2A5A-742A-5B59688D01F7}"/>
              </a:ext>
            </a:extLst>
          </p:cNvPr>
          <p:cNvSpPr txBox="1"/>
          <p:nvPr/>
        </p:nvSpPr>
        <p:spPr>
          <a:xfrm>
            <a:off x="228600" y="612610"/>
            <a:ext cx="5260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9CF79-7A6C-7084-9072-166E7ABC76C4}"/>
              </a:ext>
            </a:extLst>
          </p:cNvPr>
          <p:cNvSpPr txBox="1"/>
          <p:nvPr/>
        </p:nvSpPr>
        <p:spPr>
          <a:xfrm>
            <a:off x="2469091" y="7278341"/>
            <a:ext cx="52607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/Admin Dashboard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2077C2-DE1B-461D-D479-4F0E225DFF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1" y="1243471"/>
            <a:ext cx="8149168" cy="581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61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C821C2-27B8-3AE2-2C36-8814E5F25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47800"/>
            <a:ext cx="7810744" cy="5563330"/>
          </a:xfrm>
          <a:prstGeom prst="rect">
            <a:avLst/>
          </a:prstGeom>
        </p:spPr>
      </p:pic>
      <p:grpSp>
        <p:nvGrpSpPr>
          <p:cNvPr id="9" name="object 3">
            <a:extLst>
              <a:ext uri="{FF2B5EF4-FFF2-40B4-BE49-F238E27FC236}">
                <a16:creationId xmlns:a16="http://schemas.microsoft.com/office/drawing/2014/main" id="{30680448-A7CD-441E-4319-23AD29E58A55}"/>
              </a:ext>
            </a:extLst>
          </p:cNvPr>
          <p:cNvGrpSpPr/>
          <p:nvPr/>
        </p:nvGrpSpPr>
        <p:grpSpPr>
          <a:xfrm>
            <a:off x="2381372" y="-42530"/>
            <a:ext cx="5334000" cy="1490330"/>
            <a:chOff x="2648188" y="47148"/>
            <a:chExt cx="5103904" cy="1198311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A0E8C699-EE44-18E1-51E5-A5D1C3A1EF8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1" name="object 5">
              <a:extLst>
                <a:ext uri="{FF2B5EF4-FFF2-40B4-BE49-F238E27FC236}">
                  <a16:creationId xmlns:a16="http://schemas.microsoft.com/office/drawing/2014/main" id="{BDBC5062-7CCC-DB94-AC83-2DD89E94531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1257" y="47148"/>
              <a:ext cx="4997767" cy="1092279"/>
            </a:xfrm>
            <a:prstGeom prst="rect">
              <a:avLst/>
            </a:prstGeom>
          </p:spPr>
        </p:pic>
        <p:pic>
          <p:nvPicPr>
            <p:cNvPr id="12" name="object 6">
              <a:extLst>
                <a:ext uri="{FF2B5EF4-FFF2-40B4-BE49-F238E27FC236}">
                  <a16:creationId xmlns:a16="http://schemas.microsoft.com/office/drawing/2014/main" id="{DA458A0B-7839-30A0-1827-1F43AE6C708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97118" y="273333"/>
              <a:ext cx="4585268" cy="522565"/>
            </a:xfrm>
            <a:prstGeom prst="rect">
              <a:avLst/>
            </a:prstGeom>
          </p:spPr>
        </p:pic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5A5D3653-ACA6-147F-770A-F20BEE00FC0E}"/>
                </a:ext>
              </a:extLst>
            </p:cNvPr>
            <p:cNvSpPr/>
            <p:nvPr/>
          </p:nvSpPr>
          <p:spPr>
            <a:xfrm>
              <a:off x="2881913" y="278438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86A2E70-6922-E3CE-B29E-1182FE1BC84B}"/>
              </a:ext>
            </a:extLst>
          </p:cNvPr>
          <p:cNvSpPr txBox="1"/>
          <p:nvPr/>
        </p:nvSpPr>
        <p:spPr>
          <a:xfrm>
            <a:off x="2514600" y="3679309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>
                    <a:lumMod val="95000"/>
                  </a:schemeClr>
                </a:solidFill>
              </a:rPr>
              <a:t>OUTPUT SCREENS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03D772-ED89-BA2D-C393-7A8AB1D12241}"/>
              </a:ext>
            </a:extLst>
          </p:cNvPr>
          <p:cNvSpPr txBox="1"/>
          <p:nvPr/>
        </p:nvSpPr>
        <p:spPr>
          <a:xfrm>
            <a:off x="3785147" y="353838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OUTPUT SCREENS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35D6B1-CECE-2499-C592-2B78F6FA2E61}"/>
              </a:ext>
            </a:extLst>
          </p:cNvPr>
          <p:cNvSpPr txBox="1"/>
          <p:nvPr/>
        </p:nvSpPr>
        <p:spPr>
          <a:xfrm>
            <a:off x="228600" y="846509"/>
            <a:ext cx="5260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E0602E-2684-416A-DB5C-4257817597AC}"/>
              </a:ext>
            </a:extLst>
          </p:cNvPr>
          <p:cNvSpPr txBox="1"/>
          <p:nvPr/>
        </p:nvSpPr>
        <p:spPr>
          <a:xfrm>
            <a:off x="2454604" y="7218507"/>
            <a:ext cx="52607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/Admin Dashboard Course selection </a:t>
            </a:r>
          </a:p>
        </p:txBody>
      </p:sp>
    </p:spTree>
    <p:extLst>
      <p:ext uri="{BB962C8B-B14F-4D97-AF65-F5344CB8AC3E}">
        <p14:creationId xmlns:p14="http://schemas.microsoft.com/office/powerpoint/2010/main" val="1745251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0F9FB2-7F79-4EC9-E0B8-E22A53120E53}"/>
              </a:ext>
            </a:extLst>
          </p:cNvPr>
          <p:cNvSpPr txBox="1"/>
          <p:nvPr/>
        </p:nvSpPr>
        <p:spPr>
          <a:xfrm>
            <a:off x="284400" y="1054113"/>
            <a:ext cx="9220200" cy="6848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Student Course Registration System provides a centralized platform for managing student and course enrollments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successfully automates the course registration process, reducing manual effort and errors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supports complete CRUD operations for students, courses, and registrations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access ensures secure usage for both admin and students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of Java Swing, Hibernate (JPA), and MySQL ensures efficient data handling and persistence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application demonstrates a structured layered architecture for scalable development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the system improves efficiency, accuracy, and user experience in academic course management</a:t>
            </a:r>
          </a:p>
          <a:p>
            <a:endParaRPr lang="en-IN" sz="2000" dirty="0"/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716E552F-B5C6-7AF6-82FA-4FC538318837}"/>
              </a:ext>
            </a:extLst>
          </p:cNvPr>
          <p:cNvGrpSpPr/>
          <p:nvPr/>
        </p:nvGrpSpPr>
        <p:grpSpPr>
          <a:xfrm>
            <a:off x="2362200" y="0"/>
            <a:ext cx="5334000" cy="1490330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F2E05D2E-2253-D47B-4DEF-F0D7234DFC7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0AFE534-77C2-EDDB-47DC-585BFDE676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FB04A512-99F4-654B-B36A-8E31DA4B3BB1}"/>
                </a:ext>
              </a:extLst>
            </p:cNvPr>
            <p:cNvSpPr/>
            <p:nvPr/>
          </p:nvSpPr>
          <p:spPr>
            <a:xfrm>
              <a:off x="2881913" y="278438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143EF4B-A0C0-14FF-29C8-C630F7EE6B34}"/>
              </a:ext>
            </a:extLst>
          </p:cNvPr>
          <p:cNvSpPr txBox="1"/>
          <p:nvPr/>
        </p:nvSpPr>
        <p:spPr>
          <a:xfrm>
            <a:off x="4078888" y="336272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3332</TotalTime>
  <Words>817</Words>
  <Application>Microsoft Macintosh PowerPoint</Application>
  <PresentationFormat>Custom</PresentationFormat>
  <Paragraphs>133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Palatino Linotype</vt:lpstr>
      <vt:lpstr>Times New Roman</vt:lpstr>
      <vt:lpstr>Office Theme</vt:lpstr>
      <vt:lpstr>Java   Project Third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 </vt:lpstr>
      <vt:lpstr> </vt:lpstr>
      <vt:lpstr>OUTPUT SCREENS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Anurag Nayak</cp:lastModifiedBy>
  <cp:revision>69</cp:revision>
  <cp:lastPrinted>2026-04-03T13:17:49Z</cp:lastPrinted>
  <dcterms:created xsi:type="dcterms:W3CDTF">2025-10-10T08:28:06Z</dcterms:created>
  <dcterms:modified xsi:type="dcterms:W3CDTF">2026-04-06T04:57:35Z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